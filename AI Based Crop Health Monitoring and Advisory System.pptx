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85" r:id="rId14"/>
    <p:sldId id="291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AA200-4140-43A4-B17B-D49B8939A58C}" v="1" dt="2026-02-02T18:50:45.571"/>
    <p1510:client id="{ACED346A-3517-4620-A056-3A627744E897}" v="6" dt="2026-02-02T18:46:35.06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6" d="100"/>
          <a:sy n="76" d="100"/>
        </p:scale>
        <p:origin x="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7C2DA9E-4F47-1705-CC0B-6B25E6DC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8AA310-F456-9C5D-75E9-790D7BD97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36FAADC-7607-B0D5-A811-CB6685916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09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F63C69C-D55E-7B94-8C41-94C2FB79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947D828-9381-E3D0-8AE1-7B66D9D2D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4A68555-179D-042C-C708-B234BE577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98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pak2601D/IBM-Workshop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ho.int/teams/control-of-neglected-tropical-diseases/vector-ecology-and-managemen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ao.org/agriculture/crops/thematic-sitemap/theme/pests/ipm/en/" TargetMode="External"/><Relationship Id="rId12" Type="http://schemas.openxmlformats.org/officeDocument/2006/relationships/hyperlink" Target="https://research.ibm.com/blog/retrieval-augmented-genera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angflow.org/" TargetMode="External"/><Relationship Id="rId11" Type="http://schemas.openxmlformats.org/officeDocument/2006/relationships/hyperlink" Target="https://public.wmo.int/en/our-mandate/climate" TargetMode="External"/><Relationship Id="rId5" Type="http://schemas.openxmlformats.org/officeDocument/2006/relationships/hyperlink" Target="https://www.ibm.com/granite" TargetMode="External"/><Relationship Id="rId10" Type="http://schemas.openxmlformats.org/officeDocument/2006/relationships/hyperlink" Target="https://ieeexplore.ieee.org/document/8457012" TargetMode="External"/><Relationship Id="rId4" Type="http://schemas.openxmlformats.org/officeDocument/2006/relationships/hyperlink" Target="https://www.ibm.com/products/watsonx-ai" TargetMode="External"/><Relationship Id="rId9" Type="http://schemas.openxmlformats.org/officeDocument/2006/relationships/hyperlink" Target="https://www.usda.gov/topics/crop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AI Based Crop Health Monitoring and Advisory System.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507252" y="1151647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</a:t>
            </a:r>
            <a:r>
              <a:rPr lang="en-US" sz="35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</a:t>
            </a:r>
            <a:r>
              <a:rPr lang="en-US" sz="3500" b="1" i="0" u="none" strike="noStrike" cap="none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1507252" y="1456730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172348430"/>
              </p:ext>
            </p:extLst>
          </p:nvPr>
        </p:nvGraphicFramePr>
        <p:xfrm>
          <a:off x="1637881" y="1942026"/>
          <a:ext cx="7959148" cy="421958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79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5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4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Aryan </a:t>
                      </a:r>
                      <a:r>
                        <a:rPr lang="en-IN" dirty="0" err="1"/>
                        <a:t>kumar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aryan@gmail.com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8088317032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3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/>
                        <a:t>H.Deepak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dhemberal@gmail.com</a:t>
                      </a: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9110816162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3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19E90850-6FE5-B979-5A55-DA49C16D1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76DD28-0DE5-D9FD-2AF5-A725CF8F8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85" y="4306211"/>
            <a:ext cx="1337631" cy="1663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5057" y="1435508"/>
            <a:ext cx="10025504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Farmers struggle with invisible crop health issues like nutrient deficiencies and water stress alongside pests and  diseases.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Pain Points : Manual inspection is time-consuming and often detects problems too late. Lack of precise data leads to excessive use of fertilizers and pesticides.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climate variability makes traditional farming calendars unreliable.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97268" y="1009347"/>
            <a:ext cx="3226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25967" y="885140"/>
            <a:ext cx="45391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z="2800" b="1" dirty="0"/>
              <a:t> solution: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0306D-87A5-D64F-6711-E197D46DD7AF}"/>
              </a:ext>
            </a:extLst>
          </p:cNvPr>
          <p:cNvSpPr txBox="1"/>
          <p:nvPr/>
        </p:nvSpPr>
        <p:spPr>
          <a:xfrm>
            <a:off x="825967" y="1371600"/>
            <a:ext cx="10540065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AI-based Pest and Disease Risk Assessment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crop images uploaded by farmers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weather and historical pest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pest/disease risk levels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early warnings and preventive recommendations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Agentic AI architecture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-458201" y="870346"/>
            <a:ext cx="57824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Need of project: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2AB3F3B9-EC3F-2423-CACB-5AC4944C6A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4441" y="2659159"/>
            <a:ext cx="9733936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0B308-5782-AFCD-363C-27C2B28EE0F2}"/>
              </a:ext>
            </a:extLst>
          </p:cNvPr>
          <p:cNvSpPr txBox="1"/>
          <p:nvPr/>
        </p:nvSpPr>
        <p:spPr>
          <a:xfrm>
            <a:off x="962628" y="1491977"/>
            <a:ext cx="10266744" cy="35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Productivity: Potential to increase crop yields by 15–20% through data-driven decisions.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 Reduce pesticide and fertilizer waste by 30–40%.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 Provides rural farmers with 24/7 access to "virtual expert" advice.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Security: Ensures resilient food systems in the face of a growing global population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22178" y="957620"/>
            <a:ext cx="54964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35EEB0D-BA24-E63A-6E96-858303F038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5112" y="1335535"/>
            <a:ext cx="10274710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Scale and Commercial Farmers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Agronomists and Consultants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Agri-tech Companies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937549" y="935190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E23D3-2C22-FCC5-0113-ECFD7FCA523B}"/>
              </a:ext>
            </a:extLst>
          </p:cNvPr>
          <p:cNvSpPr txBox="1"/>
          <p:nvPr/>
        </p:nvSpPr>
        <p:spPr>
          <a:xfrm>
            <a:off x="937549" y="1458410"/>
            <a:ext cx="941021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Engine: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&amp; Reasoning: IBM Granite-3-2-8b via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Watsonx.ai.Knowledge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Retrieval: IBM Cloud RAG (Retrieval Augmented Generation) for agricultural database search.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live weather and market data; URL fetching for deep content analysis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925974" y="879545"/>
            <a:ext cx="659895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FFA4AE-80B3-9E39-D916-0CF6893F558E}"/>
              </a:ext>
            </a:extLst>
          </p:cNvPr>
          <p:cNvSpPr txBox="1"/>
          <p:nvPr/>
        </p:nvSpPr>
        <p:spPr>
          <a:xfrm>
            <a:off x="925974" y="1458409"/>
            <a:ext cx="897037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Reasoning: Unlike static apps, the system "thinks" by combining images, weather patterns, and soil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Provides clear reasoning for why a specific intervention is recommended.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Intelligence: Uses IBM Granite-guarded outputs for reliable, unbiased agricultural guidance.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61418" y="454906"/>
            <a:ext cx="8207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Technical Flow Diagram - Architecture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Blueprint</a:t>
            </a:r>
            <a:endParaRPr lang="en-US" sz="2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D23455E-20F6-FABE-5559-8E1CC12722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B90A82-7211-3927-B6B1-B18B6A78E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585" y="1137970"/>
            <a:ext cx="8300426" cy="47419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942704" y="49474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 flow </a:t>
            </a:r>
            <a:r>
              <a:rPr lang="en-US" sz="2800" b="1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omponent Used </a:t>
            </a:r>
            <a:endParaRPr lang="en-US" sz="2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1F3F401-5DE1-74E9-B512-0EA51EC3EE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6015" y="719002"/>
            <a:ext cx="99632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Accepts multi-modal data including crop details, symptoms, and images uploaded by farmers.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 x AI Agent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central "brain" that performs reasoning, prediction, and decision-making for crop health.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/ RAG Component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Acts as the "textbook" by retrieving specialized pest and disease knowledge from agricultural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the final risk assessment, recommended actions, and expert advisory.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1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5A3865A-3596-5C2D-3FC4-FB703E11F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2FD3823-E49D-F118-FDEE-A964734C9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030E394-13EA-734A-2914-861049E8E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FE1E092-A2DB-DE1A-3463-0E3023AF0C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875A0BE-188E-3972-4B9D-2C7748CECD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81E310DA-5989-9299-6F0F-3E6F65E4E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62FBE-A43B-103C-33B3-3B0D9748D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23" y="1080326"/>
            <a:ext cx="10048754" cy="469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73DAA52-8E37-3B5B-D761-D8CFB110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CF284-AD85-01F6-55AF-20E4B504353A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5B8E6-A736-5902-B905-D889FED4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3C727AB-B0A6-330F-16E3-C596E0D4E7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4187BF6-20CD-F656-D8DF-935DB3EADA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B59F6AA-3035-14B1-5E57-1824F73CA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67260A2-4BFA-93C9-637E-82DCC101C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3D2ADB3-BBE9-173E-39B1-E56B8B3CD5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B8D8F9A-4FE3-5979-BE5F-6130CBA818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7B22D-7D61-08F1-AE1C-86C0817E4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375" y="1124512"/>
            <a:ext cx="8870449" cy="4608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1EB797-7FF9-BF2B-DE4F-D0B697CBF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60" y="1078788"/>
            <a:ext cx="10047079" cy="47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E4930A-B96A-84AC-E6F4-B2E86CE33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150" y="905733"/>
            <a:ext cx="8603526" cy="50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E77274C-8DEA-6949-D867-CE0237B5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2F5FA-CB9D-1DB6-744B-47DB4202F1BE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4DF7E-D363-8757-82F5-BCFE841F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DD3B16-5F2B-7624-5FDA-0605D614B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889" y="600620"/>
            <a:ext cx="8754661" cy="513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06208" y="6899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D5DB2-9DC9-CC05-4539-1BB9DA5619E7}"/>
              </a:ext>
            </a:extLst>
          </p:cNvPr>
          <p:cNvSpPr txBox="1"/>
          <p:nvPr/>
        </p:nvSpPr>
        <p:spPr>
          <a:xfrm>
            <a:off x="671332" y="1393946"/>
            <a:ext cx="8469774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sensors for real-time monitoring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farmers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(regional languages)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pesticide &amp; fertilizer recommendations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advisory integration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https://github.com/Deepak2601D/IBM-Workshop.git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82732" y="6833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19E9A1-6EDC-812E-19BD-2E868BCA82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0270" y="924233"/>
            <a:ext cx="9625782" cy="56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IBM watsonx.ai Documentation</a:t>
            </a:r>
            <a:br>
              <a:rPr lang="en-IN" sz="1600" dirty="0"/>
            </a:br>
            <a:r>
              <a:rPr lang="en-IN" sz="1600" dirty="0">
                <a:hlinkClick r:id="rId4"/>
              </a:rPr>
              <a:t>https://www.ibm.com/products/watsonx-ai</a:t>
            </a:r>
            <a:endParaRPr lang="en-IN" sz="1600" dirty="0"/>
          </a:p>
          <a:p>
            <a:r>
              <a:rPr lang="en-IN" sz="1600" b="1" dirty="0"/>
              <a:t>IBM Granite Foundation Models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https://www.ibm.com/granite</a:t>
            </a:r>
            <a:endParaRPr lang="en-IN" sz="1600" dirty="0"/>
          </a:p>
          <a:p>
            <a:r>
              <a:rPr lang="en-IN" sz="1600" b="1" dirty="0"/>
              <a:t>Langflow – Agentic AI Workflow Platform</a:t>
            </a:r>
            <a:br>
              <a:rPr lang="en-IN" sz="1600" dirty="0"/>
            </a:br>
            <a:r>
              <a:rPr lang="en-IN" sz="1600" dirty="0">
                <a:hlinkClick r:id="rId6"/>
              </a:rPr>
              <a:t>https://www.langflow.org</a:t>
            </a:r>
            <a:endParaRPr lang="en-IN" sz="1600" dirty="0"/>
          </a:p>
          <a:p>
            <a:r>
              <a:rPr lang="en-IN" sz="1600" b="1" dirty="0"/>
              <a:t>FAO – Pest and Disease Risk Assessment Resources</a:t>
            </a:r>
            <a:br>
              <a:rPr lang="en-IN" sz="1600" dirty="0"/>
            </a:br>
            <a:r>
              <a:rPr lang="en-IN" sz="1600" dirty="0"/>
              <a:t>https://www.fao.org/plant-health/en/</a:t>
            </a:r>
          </a:p>
          <a:p>
            <a:r>
              <a:rPr lang="en-IN" sz="1600" b="1" dirty="0"/>
              <a:t>FAO – Integrated Pest Management (IPM)</a:t>
            </a:r>
            <a:br>
              <a:rPr lang="en-IN" sz="1600" dirty="0"/>
            </a:br>
            <a:r>
              <a:rPr lang="en-IN" sz="1600" dirty="0">
                <a:hlinkClick r:id="rId7"/>
              </a:rPr>
              <a:t>https://www.fao.org/agriculture/crops/thematic-sitemap/theme/pests/ipm/en/</a:t>
            </a:r>
            <a:endParaRPr lang="en-IN" sz="1600" dirty="0"/>
          </a:p>
          <a:p>
            <a:r>
              <a:rPr lang="en-IN" sz="1600" b="1" dirty="0"/>
              <a:t>World Health Organization (WHO) – Vector &amp; Pest Control Guidelines</a:t>
            </a:r>
            <a:br>
              <a:rPr lang="en-IN" sz="1600" dirty="0"/>
            </a:br>
            <a:r>
              <a:rPr lang="en-IN" sz="1600" dirty="0">
                <a:hlinkClick r:id="rId8"/>
              </a:rPr>
              <a:t>https://www.who.int/teams/control-of-neglected-tropical-diseases/vector-ecology-and-management</a:t>
            </a:r>
            <a:endParaRPr lang="en-IN" sz="1600" dirty="0"/>
          </a:p>
          <a:p>
            <a:r>
              <a:rPr lang="en-IN" sz="1600" b="1" dirty="0"/>
              <a:t>USDA – Crop Pest and Disease Management</a:t>
            </a:r>
            <a:br>
              <a:rPr lang="en-IN" sz="1600" dirty="0"/>
            </a:br>
            <a:r>
              <a:rPr lang="en-IN" sz="1600" dirty="0">
                <a:hlinkClick r:id="rId9"/>
              </a:rPr>
              <a:t>https://www.usda.gov/topics/crops</a:t>
            </a:r>
            <a:endParaRPr lang="en-IN" sz="1600" dirty="0"/>
          </a:p>
          <a:p>
            <a:r>
              <a:rPr lang="en-IN" sz="1600" b="1" dirty="0"/>
              <a:t>Research Paper: Deep Learning for Plant Disease Detection</a:t>
            </a:r>
            <a:br>
              <a:rPr lang="en-IN" sz="1600" dirty="0"/>
            </a:br>
            <a:r>
              <a:rPr lang="en-IN" sz="1600" dirty="0">
                <a:hlinkClick r:id="rId10"/>
              </a:rPr>
              <a:t>https://ieeexplore.ieee.org/document/8457012</a:t>
            </a:r>
            <a:endParaRPr lang="en-IN" sz="1600" dirty="0"/>
          </a:p>
          <a:p>
            <a:r>
              <a:rPr lang="en-IN" sz="1600" b="1" dirty="0"/>
              <a:t>Climate Data for Agriculture – World Meteorological Organization (WMO)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https://public.wmo.int/en/our-mandate/climate</a:t>
            </a:r>
            <a:endParaRPr lang="en-IN" sz="1600" dirty="0"/>
          </a:p>
          <a:p>
            <a:r>
              <a:rPr lang="en-IN" sz="1600" b="1" dirty="0"/>
              <a:t>Retrieval Augmented Generation (RAG) – IBM Research</a:t>
            </a:r>
            <a:br>
              <a:rPr lang="en-IN" sz="1600" dirty="0"/>
            </a:br>
            <a:r>
              <a:rPr lang="en-IN" sz="1600" dirty="0">
                <a:hlinkClick r:id="rId12"/>
              </a:rPr>
              <a:t>https://research.ibm.com/blog/retrieval-augmented-generation</a:t>
            </a:r>
            <a:endParaRPr lang="en-IN" sz="1600" dirty="0"/>
          </a:p>
          <a:p>
            <a:endParaRPr lang="en-I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766</Words>
  <Application>Microsoft Office PowerPoint</Application>
  <PresentationFormat>Widescreen</PresentationFormat>
  <Paragraphs>88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Agentic AI Hackathon: AI Based Crop Health Monitoring and Advisory System.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deepak hemberal</cp:lastModifiedBy>
  <cp:revision>119</cp:revision>
  <dcterms:created xsi:type="dcterms:W3CDTF">2025-07-08T05:06:56Z</dcterms:created>
  <dcterms:modified xsi:type="dcterms:W3CDTF">2026-02-02T18:50:56Z</dcterms:modified>
</cp:coreProperties>
</file>